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SVP Process Guide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PaperTrail procurement workflow presentation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1</a:t>
            </a:r>
          </a:p>
        </p:txBody>
      </p:sp>
      <p:sp>
        <p:nvSpPr>
          <p:cNvPr id="10" name="Main Title"/>
          <p:cNvSpPr/>
          <p:nvPr/>
        </p:nvSpPr>
        <p:spPr>
          <a:xfrm>
            <a:off x="685800" y="1234440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3400" b="1" dirty="0">
                <a:solidFill>
                  <a:srgbClr val="08264A"/>
                </a:solidFill>
                <a:latin typeface="Aptos"/>
              </a:rPr>
              <a:t>PaperTrail SVP Process Guide</a:t>
            </a:r>
          </a:p>
        </p:txBody>
      </p:sp>
      <p:sp>
        <p:nvSpPr>
          <p:cNvPr id="11" name="Sub Title"/>
          <p:cNvSpPr/>
          <p:nvPr/>
        </p:nvSpPr>
        <p:spPr>
          <a:xfrm>
            <a:off x="713232" y="205740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Aptos"/>
              </a:rPr>
              <a:t>From login to completed procurement</a:t>
            </a:r>
          </a:p>
        </p:txBody>
      </p:sp>
      <p:sp>
        <p:nvSpPr>
          <p:cNvPr id="12" name="Client Note"/>
          <p:cNvSpPr/>
          <p:nvPr/>
        </p:nvSpPr>
        <p:spPr>
          <a:xfrm>
            <a:off x="749808" y="2880360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Prepared as a walkthrough and screenshot planning guide for client presentation. This file is separate from the system and does not change the app.</a:t>
            </a:r>
          </a:p>
        </p:txBody>
      </p:sp>
      <p:sp>
        <p:nvSpPr>
          <p:cNvPr id="13" name="Flow Callout"/>
          <p:cNvSpPr/>
          <p:nvPr/>
        </p:nvSpPr>
        <p:spPr>
          <a:xfrm>
            <a:off x="6446520" y="1234440"/>
            <a:ext cx="4754880" cy="3931920"/>
          </a:xfrm>
          <a:prstGeom prst="round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Aptos"/>
              </a:rPr>
              <a:t>SVP / Alternative Procurement</a:t>
            </a:r>
          </a:p>
          <a:p>
            <a:pPr algn="ctr"/>
            <a:r>
              <a:rPr lang="en-US" sz="1700" b="1" dirty="0">
                <a:solidFill>
                  <a:srgbClr val="FFFFFF"/>
                </a:solidFill>
                <a:latin typeface="Aptos"/>
              </a:rPr>
              <a:t/>
            </a:r>
          </a:p>
          <a:p>
            <a:pPr algn="ctr"/>
            <a:r>
              <a:rPr lang="en-US" sz="1700" b="1" dirty="0">
                <a:solidFill>
                  <a:srgbClr val="FFFFFF"/>
                </a:solidFill>
                <a:latin typeface="Aptos"/>
              </a:rPr>
              <a:t>Login &gt; Dashboard &gt; Purchase Request &gt; BAC Resolution &gt; Posting Decision &gt; RFQ &gt; RFQ Responses / Quotations &gt; Abstract &gt; Purchase Order &gt; Delivery &gt; Inspection / Acceptance &gt; Completed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How To Use This Guide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Guide for demo flow and screenshot preparation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2</a:t>
            </a:r>
          </a:p>
        </p:txBody>
      </p:sp>
      <p:sp>
        <p:nvSpPr>
          <p:cNvPr id="10" name="Use Guide"/>
          <p:cNvSpPr/>
          <p:nvPr/>
        </p:nvSpPr>
        <p:spPr>
          <a:xfrm>
            <a:off x="548640" y="960120"/>
            <a:ext cx="53949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How to use this PPT</a:t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/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1. Use each slide as the client explanation sequence.</a:t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2. Capture the screenshots listed in the yellow boxes.</a:t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3. Replace the gray placeholders with actual screenshots later.</a:t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4. Keep labels client-friendly; use RFQ Responses / Quotations when explaining supplier quotations.</a:t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5. Use the SVP Tracking page as final proof that the process is linked end-to-end.</a:t>
            </a:r>
          </a:p>
        </p:txBody>
      </p:sp>
      <p:sp>
        <p:nvSpPr>
          <p:cNvPr id="11" name="Legend"/>
          <p:cNvSpPr/>
          <p:nvPr/>
        </p:nvSpPr>
        <p:spPr>
          <a:xfrm>
            <a:off x="6400800" y="960120"/>
            <a:ext cx="4937760" cy="5212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Legend</a:t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/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Blue boxes: main PaperTrail modules</a:t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Yellow boxes: screenshot targets</a:t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Gray boxes: screenshot placeholders</a:t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Green: completion or approved state</a:t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Orange: conditional posting route</a:t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/>
            </a:r>
          </a:p>
          <a:p>
            <a:pPr algn="l"/>
            <a:r>
              <a:rPr lang="en-US" sz="1600" dirty="0">
                <a:solidFill>
                  <a:srgbClr val="0F172A"/>
                </a:solidFill>
                <a:latin typeface="Aptos"/>
              </a:rPr>
              <a:t>Reminder: This is only a presentation guide. It does not require code or database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Whole SVP Process Flow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Client-friendly end-to-end process map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3</a:t>
            </a:r>
          </a:p>
        </p:txBody>
      </p:sp>
      <p:sp>
        <p:nvSpPr>
          <p:cNvPr id="20" name="Step 0"/>
          <p:cNvSpPr/>
          <p:nvPr/>
        </p:nvSpPr>
        <p:spPr>
          <a:xfrm>
            <a:off x="438912" y="100584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Login</a:t>
            </a:r>
          </a:p>
        </p:txBody>
      </p:sp>
      <p:sp>
        <p:nvSpPr>
          <p:cNvPr id="70" name="Arrow 0"/>
          <p:cNvSpPr/>
          <p:nvPr/>
        </p:nvSpPr>
        <p:spPr>
          <a:xfrm>
            <a:off x="2523744" y="116128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21" name="Step 1"/>
          <p:cNvSpPr/>
          <p:nvPr/>
        </p:nvSpPr>
        <p:spPr>
          <a:xfrm>
            <a:off x="3154680" y="100584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Dashboard</a:t>
            </a:r>
          </a:p>
        </p:txBody>
      </p:sp>
      <p:sp>
        <p:nvSpPr>
          <p:cNvPr id="71" name="Arrow 1"/>
          <p:cNvSpPr/>
          <p:nvPr/>
        </p:nvSpPr>
        <p:spPr>
          <a:xfrm>
            <a:off x="5239512" y="116128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22" name="Step 2"/>
          <p:cNvSpPr/>
          <p:nvPr/>
        </p:nvSpPr>
        <p:spPr>
          <a:xfrm>
            <a:off x="5870448" y="100584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Create PR</a:t>
            </a:r>
          </a:p>
        </p:txBody>
      </p:sp>
      <p:sp>
        <p:nvSpPr>
          <p:cNvPr id="72" name="Arrow 2"/>
          <p:cNvSpPr/>
          <p:nvPr/>
        </p:nvSpPr>
        <p:spPr>
          <a:xfrm>
            <a:off x="7955280" y="116128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23" name="Step 3"/>
          <p:cNvSpPr/>
          <p:nvPr/>
        </p:nvSpPr>
        <p:spPr>
          <a:xfrm>
            <a:off x="8586216" y="100584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PR Signatures</a:t>
            </a:r>
          </a:p>
        </p:txBody>
      </p:sp>
      <p:sp>
        <p:nvSpPr>
          <p:cNvPr id="24" name="Step 4"/>
          <p:cNvSpPr/>
          <p:nvPr/>
        </p:nvSpPr>
        <p:spPr>
          <a:xfrm>
            <a:off x="438912" y="224028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PR Number</a:t>
            </a:r>
          </a:p>
        </p:txBody>
      </p:sp>
      <p:sp>
        <p:nvSpPr>
          <p:cNvPr id="74" name="Arrow 4"/>
          <p:cNvSpPr/>
          <p:nvPr/>
        </p:nvSpPr>
        <p:spPr>
          <a:xfrm>
            <a:off x="2523744" y="239572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25" name="Step 5"/>
          <p:cNvSpPr/>
          <p:nvPr/>
        </p:nvSpPr>
        <p:spPr>
          <a:xfrm>
            <a:off x="3154680" y="224028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BAC Resolution</a:t>
            </a:r>
          </a:p>
        </p:txBody>
      </p:sp>
      <p:sp>
        <p:nvSpPr>
          <p:cNvPr id="75" name="Arrow 5"/>
          <p:cNvSpPr/>
          <p:nvPr/>
        </p:nvSpPr>
        <p:spPr>
          <a:xfrm>
            <a:off x="5239512" y="239572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26" name="Step 6"/>
          <p:cNvSpPr/>
          <p:nvPr/>
        </p:nvSpPr>
        <p:spPr>
          <a:xfrm>
            <a:off x="5870448" y="2240280"/>
            <a:ext cx="2057400" cy="530352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Posting Check</a:t>
            </a:r>
          </a:p>
        </p:txBody>
      </p:sp>
      <p:sp>
        <p:nvSpPr>
          <p:cNvPr id="76" name="Arrow 6"/>
          <p:cNvSpPr/>
          <p:nvPr/>
        </p:nvSpPr>
        <p:spPr>
          <a:xfrm>
            <a:off x="7955280" y="239572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27" name="Step 7"/>
          <p:cNvSpPr/>
          <p:nvPr/>
        </p:nvSpPr>
        <p:spPr>
          <a:xfrm>
            <a:off x="8586216" y="224028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RFQ</a:t>
            </a:r>
          </a:p>
        </p:txBody>
      </p:sp>
      <p:sp>
        <p:nvSpPr>
          <p:cNvPr id="28" name="Step 8"/>
          <p:cNvSpPr/>
          <p:nvPr/>
        </p:nvSpPr>
        <p:spPr>
          <a:xfrm>
            <a:off x="438912" y="347472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RFQ Responses</a:t>
            </a:r>
          </a:p>
        </p:txBody>
      </p:sp>
      <p:sp>
        <p:nvSpPr>
          <p:cNvPr id="78" name="Arrow 8"/>
          <p:cNvSpPr/>
          <p:nvPr/>
        </p:nvSpPr>
        <p:spPr>
          <a:xfrm>
            <a:off x="2523744" y="36301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29" name="Step 9"/>
          <p:cNvSpPr/>
          <p:nvPr/>
        </p:nvSpPr>
        <p:spPr>
          <a:xfrm>
            <a:off x="3154680" y="347472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Abstract</a:t>
            </a:r>
          </a:p>
        </p:txBody>
      </p:sp>
      <p:sp>
        <p:nvSpPr>
          <p:cNvPr id="79" name="Arrow 9"/>
          <p:cNvSpPr/>
          <p:nvPr/>
        </p:nvSpPr>
        <p:spPr>
          <a:xfrm>
            <a:off x="5239512" y="36301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30" name="Step 10"/>
          <p:cNvSpPr/>
          <p:nvPr/>
        </p:nvSpPr>
        <p:spPr>
          <a:xfrm>
            <a:off x="5870448" y="347472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Purchase Order</a:t>
            </a:r>
          </a:p>
        </p:txBody>
      </p:sp>
      <p:sp>
        <p:nvSpPr>
          <p:cNvPr id="80" name="Arrow 10"/>
          <p:cNvSpPr/>
          <p:nvPr/>
        </p:nvSpPr>
        <p:spPr>
          <a:xfrm>
            <a:off x="7955280" y="36301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31" name="Step 11"/>
          <p:cNvSpPr/>
          <p:nvPr/>
        </p:nvSpPr>
        <p:spPr>
          <a:xfrm>
            <a:off x="8586216" y="347472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Delivery</a:t>
            </a:r>
          </a:p>
        </p:txBody>
      </p:sp>
      <p:sp>
        <p:nvSpPr>
          <p:cNvPr id="32" name="Step 12"/>
          <p:cNvSpPr/>
          <p:nvPr/>
        </p:nvSpPr>
        <p:spPr>
          <a:xfrm>
            <a:off x="438912" y="4709160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Inspection / Acceptance</a:t>
            </a:r>
          </a:p>
        </p:txBody>
      </p:sp>
      <p:sp>
        <p:nvSpPr>
          <p:cNvPr id="82" name="Arrow 12"/>
          <p:cNvSpPr/>
          <p:nvPr/>
        </p:nvSpPr>
        <p:spPr>
          <a:xfrm>
            <a:off x="2523744" y="48646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33" name="Step 13"/>
          <p:cNvSpPr/>
          <p:nvPr/>
        </p:nvSpPr>
        <p:spPr>
          <a:xfrm>
            <a:off x="3154680" y="4709160"/>
            <a:ext cx="205740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450" b="1" dirty="0">
                <a:solidFill>
                  <a:srgbClr val="08264A"/>
                </a:solidFill>
                <a:latin typeface="Aptos"/>
              </a:rPr>
              <a:t>Completed</a:t>
            </a:r>
          </a:p>
        </p:txBody>
      </p:sp>
      <p:sp>
        <p:nvSpPr>
          <p:cNvPr id="90" name="Posting note"/>
          <p:cNvSpPr/>
          <p:nvPr/>
        </p:nvSpPr>
        <p:spPr>
          <a:xfrm>
            <a:off x="640080" y="5074920"/>
            <a:ext cx="5394960" cy="8229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300" dirty="0">
                <a:solidFill>
                  <a:srgbClr val="92400E"/>
                </a:solidFill>
                <a:latin typeface="Aptos"/>
              </a:rPr>
              <a:t>Posting route rule: at or below PHP 50,000, posting is skipped. Above PHP 50,000 and below PHP 200,000, BACSEC-004 posting happens before RFQ.</a:t>
            </a:r>
          </a:p>
        </p:txBody>
      </p:sp>
      <p:sp>
        <p:nvSpPr>
          <p:cNvPr id="91" name="Tracking note"/>
          <p:cNvSpPr/>
          <p:nvPr/>
        </p:nvSpPr>
        <p:spPr>
          <a:xfrm>
            <a:off x="6309360" y="5074920"/>
            <a:ext cx="5120640" cy="822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300" dirty="0">
                <a:solidFill>
                  <a:srgbClr val="0F5132"/>
                </a:solidFill>
                <a:latin typeface="Aptos"/>
              </a:rPr>
              <a:t>SVP Tracking ties the records together so the client can see progress from PR through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1. Login And User Dashboard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Starting point of the PaperTrail workflow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4</a:t>
            </a:r>
          </a:p>
        </p:txBody>
      </p:sp>
      <p:sp>
        <p:nvSpPr>
          <p:cNvPr id="10" name="Purpose"/>
          <p:cNvSpPr/>
          <p:nvPr/>
        </p:nvSpPr>
        <p:spPr>
          <a:xfrm>
            <a:off x="502920" y="960120"/>
            <a:ext cx="3749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Purpose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User signs in using the assigned role account. After login, the dashboard and side menu show the modules available to that role.</a:t>
            </a:r>
          </a:p>
        </p:txBody>
      </p:sp>
      <p:sp>
        <p:nvSpPr>
          <p:cNvPr id="11" name="Screenshot"/>
          <p:cNvSpPr/>
          <p:nvPr/>
        </p:nvSpPr>
        <p:spPr>
          <a:xfrm>
            <a:off x="4434840" y="960120"/>
            <a:ext cx="3520440" cy="9601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Screenshot to capture</a:t>
            </a:r>
          </a:p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Login page and dashboard after successful login.</a:t>
            </a:r>
          </a:p>
        </p:txBody>
      </p:sp>
      <p:sp>
        <p:nvSpPr>
          <p:cNvPr id="12" name="Talk Track"/>
          <p:cNvSpPr/>
          <p:nvPr/>
        </p:nvSpPr>
        <p:spPr>
          <a:xfrm>
            <a:off x="8138160" y="960120"/>
            <a:ext cx="35204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Talk track</a:t>
            </a:r>
          </a:p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Explain that the same system supports different roles, but each account only sees the actions assigned to it.</a:t>
            </a:r>
          </a:p>
        </p:txBody>
      </p:sp>
      <p:sp>
        <p:nvSpPr>
          <p:cNvPr id="13" name="System Steps"/>
          <p:cNvSpPr/>
          <p:nvPr/>
        </p:nvSpPr>
        <p:spPr>
          <a:xfrm>
            <a:off x="502920" y="2148840"/>
            <a:ext cx="5532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System steps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1. Open PaperTrail login page.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2. Enter role account credentials.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3. Land on the dashboard.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4. Confirm the SVP / Alternative Procurement menu is visible.</a:t>
            </a:r>
          </a:p>
        </p:txBody>
      </p:sp>
      <p:sp>
        <p:nvSpPr>
          <p:cNvPr id="14" name="Screenshot Placeholder"/>
          <p:cNvSpPr/>
          <p:nvPr/>
        </p:nvSpPr>
        <p:spPr>
          <a:xfrm>
            <a:off x="6263640" y="2148840"/>
            <a:ext cx="53949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Screenshot placeholder</a:t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/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Paste the actual system screenshot here during client prep.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2. Purchase Request Creation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Head Office starts the SVP transaction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5</a:t>
            </a:r>
          </a:p>
        </p:txBody>
      </p:sp>
      <p:sp>
        <p:nvSpPr>
          <p:cNvPr id="10" name="Purpose"/>
          <p:cNvSpPr/>
          <p:nvPr/>
        </p:nvSpPr>
        <p:spPr>
          <a:xfrm>
            <a:off x="502920" y="960120"/>
            <a:ext cx="3749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Purpose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The PR is the starting document for the SVP chain. Without a PR, the following SVP documents should not proceed.</a:t>
            </a:r>
          </a:p>
        </p:txBody>
      </p:sp>
      <p:sp>
        <p:nvSpPr>
          <p:cNvPr id="11" name="Screenshot"/>
          <p:cNvSpPr/>
          <p:nvPr/>
        </p:nvSpPr>
        <p:spPr>
          <a:xfrm>
            <a:off x="4434840" y="960120"/>
            <a:ext cx="3520440" cy="9601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Screenshot to capture</a:t>
            </a:r>
          </a:p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Create PR page, item table, and signatory area.</a:t>
            </a:r>
          </a:p>
        </p:txBody>
      </p:sp>
      <p:sp>
        <p:nvSpPr>
          <p:cNvPr id="12" name="Talk Track"/>
          <p:cNvSpPr/>
          <p:nvPr/>
        </p:nvSpPr>
        <p:spPr>
          <a:xfrm>
            <a:off x="8138160" y="960120"/>
            <a:ext cx="35204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Talk track</a:t>
            </a:r>
          </a:p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Point out that the PR contains the procurement need, ABC, office, and item details that feed the later documents.</a:t>
            </a:r>
          </a:p>
        </p:txBody>
      </p:sp>
      <p:sp>
        <p:nvSpPr>
          <p:cNvPr id="13" name="System Steps"/>
          <p:cNvSpPr/>
          <p:nvPr/>
        </p:nvSpPr>
        <p:spPr>
          <a:xfrm>
            <a:off x="502920" y="2148840"/>
            <a:ext cx="5532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System steps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1. Go to SVP / Alternative Procurement &gt; Create PR.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2. Encode project details and item rows.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3. Confirm ABC / total amount.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4. Select or encode signatories.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5. Save draft or submit for signatures.</a:t>
            </a:r>
          </a:p>
        </p:txBody>
      </p:sp>
      <p:sp>
        <p:nvSpPr>
          <p:cNvPr id="14" name="Screenshot Placeholder"/>
          <p:cNvSpPr/>
          <p:nvPr/>
        </p:nvSpPr>
        <p:spPr>
          <a:xfrm>
            <a:off x="6263640" y="2148840"/>
            <a:ext cx="53949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Screenshot placeholder</a:t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/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Paste the actual system screenshot here during client prep.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3. PR E-Signatures And Numbering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Required approvals before BAC processing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6</a:t>
            </a:r>
          </a:p>
        </p:txBody>
      </p:sp>
      <p:sp>
        <p:nvSpPr>
          <p:cNvPr id="10" name="Purpose"/>
          <p:cNvSpPr/>
          <p:nvPr/>
        </p:nvSpPr>
        <p:spPr>
          <a:xfrm>
            <a:off x="502920" y="960120"/>
            <a:ext cx="3749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Purpose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The PR must pass through its required e-signatories, then receive its official PR number before the BAC Resolution stage.</a:t>
            </a:r>
          </a:p>
        </p:txBody>
      </p:sp>
      <p:sp>
        <p:nvSpPr>
          <p:cNvPr id="11" name="Screenshot"/>
          <p:cNvSpPr/>
          <p:nvPr/>
        </p:nvSpPr>
        <p:spPr>
          <a:xfrm>
            <a:off x="4434840" y="960120"/>
            <a:ext cx="3520440" cy="9601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Screenshot to capture</a:t>
            </a:r>
          </a:p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Signature request screen, e-signature modal, and PR record with assigned PR number.</a:t>
            </a:r>
          </a:p>
        </p:txBody>
      </p:sp>
      <p:sp>
        <p:nvSpPr>
          <p:cNvPr id="12" name="Talk Track"/>
          <p:cNvSpPr/>
          <p:nvPr/>
        </p:nvSpPr>
        <p:spPr>
          <a:xfrm>
            <a:off x="8138160" y="960120"/>
            <a:ext cx="35204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Talk track</a:t>
            </a:r>
          </a:p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This proves accountability and avoids manual routing ambiguity.</a:t>
            </a:r>
          </a:p>
        </p:txBody>
      </p:sp>
      <p:sp>
        <p:nvSpPr>
          <p:cNvPr id="13" name="System Steps"/>
          <p:cNvSpPr/>
          <p:nvPr/>
        </p:nvSpPr>
        <p:spPr>
          <a:xfrm>
            <a:off x="502920" y="2148840"/>
            <a:ext cx="5532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System steps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1. Generate/send PR signature requests.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2. Assigned users open Signature Requests.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3. Sign using code + password in the e-signature modal.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4. PR returns as signed/completed.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5. PR number is assigned.</a:t>
            </a:r>
          </a:p>
        </p:txBody>
      </p:sp>
      <p:sp>
        <p:nvSpPr>
          <p:cNvPr id="14" name="Screenshot Placeholder"/>
          <p:cNvSpPr/>
          <p:nvPr/>
        </p:nvSpPr>
        <p:spPr>
          <a:xfrm>
            <a:off x="6263640" y="2148840"/>
            <a:ext cx="53949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Screenshot placeholder</a:t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/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Paste the actual system screenshot here during client prep.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4. BAC Resolution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BAC Secretariat prepares and routes the resolution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7</a:t>
            </a:r>
          </a:p>
        </p:txBody>
      </p:sp>
      <p:sp>
        <p:nvSpPr>
          <p:cNvPr id="10" name="Purpose"/>
          <p:cNvSpPr/>
          <p:nvPr/>
        </p:nvSpPr>
        <p:spPr>
          <a:xfrm>
            <a:off x="502920" y="960120"/>
            <a:ext cx="3749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Purpose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After PR readiness, BAC Secretariat prepares the BAC Resolution and routes it through the required review/approval path.</a:t>
            </a:r>
          </a:p>
        </p:txBody>
      </p:sp>
      <p:sp>
        <p:nvSpPr>
          <p:cNvPr id="11" name="Screenshot"/>
          <p:cNvSpPr/>
          <p:nvPr/>
        </p:nvSpPr>
        <p:spPr>
          <a:xfrm>
            <a:off x="4434840" y="960120"/>
            <a:ext cx="3520440" cy="9601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Screenshot to capture</a:t>
            </a:r>
          </a:p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BAC Resolution submenu, source PR selection, resolution record, and approved resolution view.</a:t>
            </a:r>
          </a:p>
        </p:txBody>
      </p:sp>
      <p:sp>
        <p:nvSpPr>
          <p:cNvPr id="12" name="Talk Track"/>
          <p:cNvSpPr/>
          <p:nvPr/>
        </p:nvSpPr>
        <p:spPr>
          <a:xfrm>
            <a:off x="8138160" y="960120"/>
            <a:ext cx="35204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Talk track</a:t>
            </a:r>
          </a:p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Explain that this step records the BAC recommendation before the Head Office proceeds to RFQ.</a:t>
            </a:r>
          </a:p>
        </p:txBody>
      </p:sp>
      <p:sp>
        <p:nvSpPr>
          <p:cNvPr id="13" name="System Steps"/>
          <p:cNvSpPr/>
          <p:nvPr/>
        </p:nvSpPr>
        <p:spPr>
          <a:xfrm>
            <a:off x="502920" y="2148840"/>
            <a:ext cx="5532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System steps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1. BAC Secretariat opens BAC Resolution module.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2. Select eligible Purchase Request.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3. Prepare official BAC Resolution form.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4. Route to BAC Chair / required approvers.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5. Approved resolution returns to Head Office for continuation.</a:t>
            </a:r>
          </a:p>
        </p:txBody>
      </p:sp>
      <p:sp>
        <p:nvSpPr>
          <p:cNvPr id="14" name="Screenshot Placeholder"/>
          <p:cNvSpPr/>
          <p:nvPr/>
        </p:nvSpPr>
        <p:spPr>
          <a:xfrm>
            <a:off x="6263640" y="2148840"/>
            <a:ext cx="53949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Screenshot placeholder</a:t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/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Paste the actual system screenshot here during client prep.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5. Posting Decision Path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System determines whether BACSEC-004 posting is needed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8</a:t>
            </a:r>
          </a:p>
        </p:txBody>
      </p:sp>
      <p:sp>
        <p:nvSpPr>
          <p:cNvPr id="10" name="Purpose"/>
          <p:cNvSpPr/>
          <p:nvPr/>
        </p:nvSpPr>
        <p:spPr>
          <a:xfrm>
            <a:off x="502920" y="960120"/>
            <a:ext cx="3749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Purpose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The system uses the procurement amount to determine the posting path before RFQ.</a:t>
            </a:r>
          </a:p>
        </p:txBody>
      </p:sp>
      <p:sp>
        <p:nvSpPr>
          <p:cNvPr id="11" name="Screenshot"/>
          <p:cNvSpPr/>
          <p:nvPr/>
        </p:nvSpPr>
        <p:spPr>
          <a:xfrm>
            <a:off x="4434840" y="960120"/>
            <a:ext cx="3520440" cy="9601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Screenshot to capture</a:t>
            </a:r>
          </a:p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SVP Tracking posting badge, BACSEC-004 posting screen, or Received BAC Resolution action showing posting / ready for RFQ.</a:t>
            </a:r>
          </a:p>
        </p:txBody>
      </p:sp>
      <p:sp>
        <p:nvSpPr>
          <p:cNvPr id="12" name="Talk Track"/>
          <p:cNvSpPr/>
          <p:nvPr/>
        </p:nvSpPr>
        <p:spPr>
          <a:xfrm>
            <a:off x="8138160" y="960120"/>
            <a:ext cx="35204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Talk track</a:t>
            </a:r>
          </a:p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Use this slide when clients ask why some records go directly to RFQ while others need posting.</a:t>
            </a:r>
          </a:p>
        </p:txBody>
      </p:sp>
      <p:sp>
        <p:nvSpPr>
          <p:cNvPr id="13" name="System Steps"/>
          <p:cNvSpPr/>
          <p:nvPr/>
        </p:nvSpPr>
        <p:spPr>
          <a:xfrm>
            <a:off x="502920" y="2148840"/>
            <a:ext cx="5532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System steps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Amount path: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- At or below PHP 50,000: posting skipped.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- Above PHP 50,000 and below PHP 200,000: send to BACSEC-004 posting.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- After posting is marked complete: RFQ can proceed.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/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This prevents RFQ from starting too early when posting is required.</a:t>
            </a:r>
          </a:p>
        </p:txBody>
      </p:sp>
      <p:sp>
        <p:nvSpPr>
          <p:cNvPr id="14" name="Screenshot Placeholder"/>
          <p:cNvSpPr/>
          <p:nvPr/>
        </p:nvSpPr>
        <p:spPr>
          <a:xfrm>
            <a:off x="6263640" y="2148840"/>
            <a:ext cx="53949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Screenshot placeholder</a:t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/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Paste the actual system screenshot here during client prep.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6. RFQ Creation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RFQ appears only when the source is ready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9</a:t>
            </a:r>
          </a:p>
        </p:txBody>
      </p:sp>
      <p:sp>
        <p:nvSpPr>
          <p:cNvPr id="10" name="Purpose"/>
          <p:cNvSpPr/>
          <p:nvPr/>
        </p:nvSpPr>
        <p:spPr>
          <a:xfrm>
            <a:off x="502920" y="960120"/>
            <a:ext cx="3749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Purpose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The RFQ is created after an approved BAC Resolution and, when required, completed posting.</a:t>
            </a:r>
          </a:p>
        </p:txBody>
      </p:sp>
      <p:sp>
        <p:nvSpPr>
          <p:cNvPr id="11" name="Screenshot"/>
          <p:cNvSpPr/>
          <p:nvPr/>
        </p:nvSpPr>
        <p:spPr>
          <a:xfrm>
            <a:off x="4434840" y="960120"/>
            <a:ext cx="3520440" cy="9601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Screenshot to capture</a:t>
            </a:r>
          </a:p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RFQ index with Ready for RFQ section and the RFQ official form.</a:t>
            </a:r>
          </a:p>
        </p:txBody>
      </p:sp>
      <p:sp>
        <p:nvSpPr>
          <p:cNvPr id="12" name="Talk Track"/>
          <p:cNvSpPr/>
          <p:nvPr/>
        </p:nvSpPr>
        <p:spPr>
          <a:xfrm>
            <a:off x="8138160" y="960120"/>
            <a:ext cx="35204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Talk track</a:t>
            </a:r>
          </a:p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Emphasize: no ready source, no RFQ button. This keeps documents in order.</a:t>
            </a:r>
          </a:p>
        </p:txBody>
      </p:sp>
      <p:sp>
        <p:nvSpPr>
          <p:cNvPr id="13" name="System Steps"/>
          <p:cNvSpPr/>
          <p:nvPr/>
        </p:nvSpPr>
        <p:spPr>
          <a:xfrm>
            <a:off x="502920" y="2148840"/>
            <a:ext cx="5532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System steps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1. Head Office opens RFQ module.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2. Ready for RFQ sources appear in the top table.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3. Click Create RFQ from the source record.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4. Review/edit the official RFQ form.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5. Submit or issue the RFQ.</a:t>
            </a:r>
          </a:p>
        </p:txBody>
      </p:sp>
      <p:sp>
        <p:nvSpPr>
          <p:cNvPr id="14" name="Screenshot Placeholder"/>
          <p:cNvSpPr/>
          <p:nvPr/>
        </p:nvSpPr>
        <p:spPr>
          <a:xfrm>
            <a:off x="6263640" y="2148840"/>
            <a:ext cx="53949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Screenshot placeholder</a:t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/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Paste the actual system screenshot here during client prep.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7. RFQ Responses / Quotations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Supplier offers are collected before abstract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10</a:t>
            </a:r>
          </a:p>
        </p:txBody>
      </p:sp>
      <p:sp>
        <p:nvSpPr>
          <p:cNvPr id="10" name="Purpose"/>
          <p:cNvSpPr/>
          <p:nvPr/>
        </p:nvSpPr>
        <p:spPr>
          <a:xfrm>
            <a:off x="502920" y="960120"/>
            <a:ext cx="3749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Purpose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After RFQ, supplier quotations or RFQ responses are gathered and checked before comparing offers in the Abstract.</a:t>
            </a:r>
          </a:p>
        </p:txBody>
      </p:sp>
      <p:sp>
        <p:nvSpPr>
          <p:cNvPr id="11" name="Screenshot"/>
          <p:cNvSpPr/>
          <p:nvPr/>
        </p:nvSpPr>
        <p:spPr>
          <a:xfrm>
            <a:off x="4434840" y="960120"/>
            <a:ext cx="3520440" cy="9601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Screenshot to capture</a:t>
            </a:r>
          </a:p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RFQ details with quoted/ready status, or the screen where quotation details are recorded.</a:t>
            </a:r>
          </a:p>
        </p:txBody>
      </p:sp>
      <p:sp>
        <p:nvSpPr>
          <p:cNvPr id="12" name="Talk Track"/>
          <p:cNvSpPr/>
          <p:nvPr/>
        </p:nvSpPr>
        <p:spPr>
          <a:xfrm>
            <a:off x="8138160" y="960120"/>
            <a:ext cx="35204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Talk track</a:t>
            </a:r>
          </a:p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For client wording, say RFQ Responses / Quotations. It is clearer than only saying Supplier Quotations.</a:t>
            </a:r>
          </a:p>
        </p:txBody>
      </p:sp>
      <p:sp>
        <p:nvSpPr>
          <p:cNvPr id="13" name="System Steps"/>
          <p:cNvSpPr/>
          <p:nvPr/>
        </p:nvSpPr>
        <p:spPr>
          <a:xfrm>
            <a:off x="502920" y="2148840"/>
            <a:ext cx="5532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System steps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1. Send or issue RFQ to suppliers outside/through the process as applicable.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2. Receive supplier price quotations.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3. Record or confirm quotation details.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4. Mark the RFQ as ready for Abstract when quotations are complete.</a:t>
            </a:r>
          </a:p>
        </p:txBody>
      </p:sp>
      <p:sp>
        <p:nvSpPr>
          <p:cNvPr id="14" name="Screenshot Placeholder"/>
          <p:cNvSpPr/>
          <p:nvPr/>
        </p:nvSpPr>
        <p:spPr>
          <a:xfrm>
            <a:off x="6263640" y="2148840"/>
            <a:ext cx="53949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Screenshot placeholder</a:t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/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Paste the actual system screenshot here during client prep.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8. Abstract Of Quotations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Comparison stage after RFQ responses are ready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11</a:t>
            </a:r>
          </a:p>
        </p:txBody>
      </p:sp>
      <p:sp>
        <p:nvSpPr>
          <p:cNvPr id="10" name="Purpose"/>
          <p:cNvSpPr/>
          <p:nvPr/>
        </p:nvSpPr>
        <p:spPr>
          <a:xfrm>
            <a:off x="502920" y="960120"/>
            <a:ext cx="3749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Purpose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The Abstract compares quotations and supports the recommendation of the lowest responsive offer.</a:t>
            </a:r>
          </a:p>
        </p:txBody>
      </p:sp>
      <p:sp>
        <p:nvSpPr>
          <p:cNvPr id="11" name="Screenshot"/>
          <p:cNvSpPr/>
          <p:nvPr/>
        </p:nvSpPr>
        <p:spPr>
          <a:xfrm>
            <a:off x="4434840" y="960120"/>
            <a:ext cx="3520440" cy="9601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Screenshot to capture</a:t>
            </a:r>
          </a:p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Abstract page ready section and the Abstract official form with signatory area.</a:t>
            </a:r>
          </a:p>
        </p:txBody>
      </p:sp>
      <p:sp>
        <p:nvSpPr>
          <p:cNvPr id="12" name="Talk Track"/>
          <p:cNvSpPr/>
          <p:nvPr/>
        </p:nvSpPr>
        <p:spPr>
          <a:xfrm>
            <a:off x="8138160" y="960120"/>
            <a:ext cx="35204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Talk track</a:t>
            </a:r>
          </a:p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Explain the rule simply: no RFQ, no Abstract. The button appears only when a source is ready.</a:t>
            </a:r>
          </a:p>
        </p:txBody>
      </p:sp>
      <p:sp>
        <p:nvSpPr>
          <p:cNvPr id="13" name="System Steps"/>
          <p:cNvSpPr/>
          <p:nvPr/>
        </p:nvSpPr>
        <p:spPr>
          <a:xfrm>
            <a:off x="502920" y="2148840"/>
            <a:ext cx="5532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System steps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1. Open Abstract module.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2. Ready sources appear only after RFQ is ready.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3. Click Create Abstract from the ready RFQ/source.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4. Edit supplier columns, prices, notes, and signatories.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5. Submit/finalize the Abstract.</a:t>
            </a:r>
          </a:p>
        </p:txBody>
      </p:sp>
      <p:sp>
        <p:nvSpPr>
          <p:cNvPr id="14" name="Screenshot Placeholder"/>
          <p:cNvSpPr/>
          <p:nvPr/>
        </p:nvSpPr>
        <p:spPr>
          <a:xfrm>
            <a:off x="6263640" y="2148840"/>
            <a:ext cx="53949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Screenshot placeholder</a:t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/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Paste the actual system screenshot here during client prep.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9. Purchase Order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PO is prepared from the completed Abstract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12</a:t>
            </a:r>
          </a:p>
        </p:txBody>
      </p:sp>
      <p:sp>
        <p:nvSpPr>
          <p:cNvPr id="10" name="Purpose"/>
          <p:cNvSpPr/>
          <p:nvPr/>
        </p:nvSpPr>
        <p:spPr>
          <a:xfrm>
            <a:off x="502920" y="960120"/>
            <a:ext cx="3749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Purpose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After the Abstract, the Purchase Order records the selected supplier and purchasing details.</a:t>
            </a:r>
          </a:p>
        </p:txBody>
      </p:sp>
      <p:sp>
        <p:nvSpPr>
          <p:cNvPr id="11" name="Screenshot"/>
          <p:cNvSpPr/>
          <p:nvPr/>
        </p:nvSpPr>
        <p:spPr>
          <a:xfrm>
            <a:off x="4434840" y="960120"/>
            <a:ext cx="3520440" cy="9601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Screenshot to capture</a:t>
            </a:r>
          </a:p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Purchase Order source list and official PO form.</a:t>
            </a:r>
          </a:p>
        </p:txBody>
      </p:sp>
      <p:sp>
        <p:nvSpPr>
          <p:cNvPr id="12" name="Talk Track"/>
          <p:cNvSpPr/>
          <p:nvPr/>
        </p:nvSpPr>
        <p:spPr>
          <a:xfrm>
            <a:off x="8138160" y="960120"/>
            <a:ext cx="35204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Talk track</a:t>
            </a:r>
          </a:p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This is the commitment document before delivery. It should match the winning quotation/abstract details.</a:t>
            </a:r>
          </a:p>
        </p:txBody>
      </p:sp>
      <p:sp>
        <p:nvSpPr>
          <p:cNvPr id="13" name="System Steps"/>
          <p:cNvSpPr/>
          <p:nvPr/>
        </p:nvSpPr>
        <p:spPr>
          <a:xfrm>
            <a:off x="502920" y="2148840"/>
            <a:ext cx="5532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System steps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1. Open Purchase Order module.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2. Select the completed Abstract/source.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3. Prepare the official PO form.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4. Review supplier, items, quantities, amount, and signatories.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5. Submit/issue PO.</a:t>
            </a:r>
          </a:p>
        </p:txBody>
      </p:sp>
      <p:sp>
        <p:nvSpPr>
          <p:cNvPr id="14" name="Screenshot Placeholder"/>
          <p:cNvSpPr/>
          <p:nvPr/>
        </p:nvSpPr>
        <p:spPr>
          <a:xfrm>
            <a:off x="6263640" y="2148840"/>
            <a:ext cx="53949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Screenshot placeholder</a:t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/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Paste the actual system screenshot here during client prep.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10. Delivery And Inspection / Acceptance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Final operational document stage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13</a:t>
            </a:r>
          </a:p>
        </p:txBody>
      </p:sp>
      <p:sp>
        <p:nvSpPr>
          <p:cNvPr id="10" name="Purpose"/>
          <p:cNvSpPr/>
          <p:nvPr/>
        </p:nvSpPr>
        <p:spPr>
          <a:xfrm>
            <a:off x="502920" y="960120"/>
            <a:ext cx="3749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Purpose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After PO issuance, delivery is monitored and the Inspection / Acceptance record confirms whether delivered items were received and accepted.</a:t>
            </a:r>
          </a:p>
        </p:txBody>
      </p:sp>
      <p:sp>
        <p:nvSpPr>
          <p:cNvPr id="11" name="Screenshot"/>
          <p:cNvSpPr/>
          <p:nvPr/>
        </p:nvSpPr>
        <p:spPr>
          <a:xfrm>
            <a:off x="4434840" y="960120"/>
            <a:ext cx="3520440" cy="9601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Screenshot to capture</a:t>
            </a:r>
          </a:p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Delivery reference, Inspection / Acceptance form, and final accepted record.</a:t>
            </a:r>
          </a:p>
        </p:txBody>
      </p:sp>
      <p:sp>
        <p:nvSpPr>
          <p:cNvPr id="12" name="Talk Track"/>
          <p:cNvSpPr/>
          <p:nvPr/>
        </p:nvSpPr>
        <p:spPr>
          <a:xfrm>
            <a:off x="8138160" y="960120"/>
            <a:ext cx="35204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Talk track</a:t>
            </a:r>
          </a:p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Explain that this closes the procurement activity from document preparation to actual receipt.</a:t>
            </a:r>
          </a:p>
        </p:txBody>
      </p:sp>
      <p:sp>
        <p:nvSpPr>
          <p:cNvPr id="13" name="System Steps"/>
          <p:cNvSpPr/>
          <p:nvPr/>
        </p:nvSpPr>
        <p:spPr>
          <a:xfrm>
            <a:off x="502920" y="2148840"/>
            <a:ext cx="5532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System steps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1. Supplier delivers the items.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2. Office records delivery reference if applicable.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3. Open Inspection / Acceptance module.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4. Prepare the inspection/acceptance form from the PO.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5. Submit/record acceptance.</a:t>
            </a:r>
          </a:p>
        </p:txBody>
      </p:sp>
      <p:sp>
        <p:nvSpPr>
          <p:cNvPr id="14" name="Screenshot Placeholder"/>
          <p:cNvSpPr/>
          <p:nvPr/>
        </p:nvSpPr>
        <p:spPr>
          <a:xfrm>
            <a:off x="6263640" y="2148840"/>
            <a:ext cx="53949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Screenshot placeholder</a:t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/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Paste the actual system screenshot here during client prep.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11. SVP Tracking And Completion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End-to-end audit trail for the client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14</a:t>
            </a:r>
          </a:p>
        </p:txBody>
      </p:sp>
      <p:sp>
        <p:nvSpPr>
          <p:cNvPr id="10" name="Purpose"/>
          <p:cNvSpPr/>
          <p:nvPr/>
        </p:nvSpPr>
        <p:spPr>
          <a:xfrm>
            <a:off x="502920" y="960120"/>
            <a:ext cx="3749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Purpose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The SVP Tracking page shows the whole chain and helps users verify which document exists, what stage is current, and what remains pending.</a:t>
            </a:r>
          </a:p>
        </p:txBody>
      </p:sp>
      <p:sp>
        <p:nvSpPr>
          <p:cNvPr id="11" name="Screenshot"/>
          <p:cNvSpPr/>
          <p:nvPr/>
        </p:nvSpPr>
        <p:spPr>
          <a:xfrm>
            <a:off x="4434840" y="960120"/>
            <a:ext cx="3520440" cy="9601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Screenshot to capture</a:t>
            </a:r>
          </a:p>
          <a:p>
            <a:pPr algn="l"/>
            <a:r>
              <a:rPr lang="en-US" sz="1450" dirty="0">
                <a:solidFill>
                  <a:srgbClr val="08264A"/>
                </a:solidFill>
                <a:latin typeface="Aptos"/>
              </a:rPr>
              <a:t>SVP Tracking index and chain detail page showing the complete workflow.</a:t>
            </a:r>
          </a:p>
        </p:txBody>
      </p:sp>
      <p:sp>
        <p:nvSpPr>
          <p:cNvPr id="12" name="Talk Track"/>
          <p:cNvSpPr/>
          <p:nvPr/>
        </p:nvSpPr>
        <p:spPr>
          <a:xfrm>
            <a:off x="8138160" y="960120"/>
            <a:ext cx="35204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Talk track</a:t>
            </a:r>
          </a:p>
          <a:p>
            <a:pPr algn="l"/>
            <a:r>
              <a:rPr lang="en-US" sz="1400" dirty="0">
                <a:solidFill>
                  <a:srgbClr val="0F172A"/>
                </a:solidFill>
                <a:latin typeface="Aptos"/>
              </a:rPr>
              <a:t>This is the best final screenshot because it visually proves the entire process is connected.</a:t>
            </a:r>
          </a:p>
        </p:txBody>
      </p:sp>
      <p:sp>
        <p:nvSpPr>
          <p:cNvPr id="13" name="System Steps"/>
          <p:cNvSpPr/>
          <p:nvPr/>
        </p:nvSpPr>
        <p:spPr>
          <a:xfrm>
            <a:off x="502920" y="2148840"/>
            <a:ext cx="5532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System steps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1. Open SVP Tracking / Monitoring.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2. Search for the PR or tracking number.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3. Open the chain detail page.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4. Show the complete workflow rail.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5. Confirm final stage is completed or show the current pending stage.</a:t>
            </a:r>
          </a:p>
        </p:txBody>
      </p:sp>
      <p:sp>
        <p:nvSpPr>
          <p:cNvPr id="14" name="Screenshot Placeholder"/>
          <p:cNvSpPr/>
          <p:nvPr/>
        </p:nvSpPr>
        <p:spPr>
          <a:xfrm>
            <a:off x="6263640" y="2148840"/>
            <a:ext cx="53949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Screenshot placeholder</a:t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/>
            </a:r>
          </a:p>
          <a:p>
            <a:pPr algn="ctr"/>
            <a:r>
              <a:rPr lang="en-US" sz="1750" dirty="0">
                <a:solidFill>
                  <a:srgbClr val="64748B"/>
                </a:solidFill>
                <a:latin typeface="Aptos"/>
              </a:rPr>
              <a:t>Paste the actual system screenshot here during client prep.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Screenshot Checklist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What to capture for better client visualization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15</a:t>
            </a:r>
          </a:p>
        </p:txBody>
      </p:sp>
      <p:sp>
        <p:nvSpPr>
          <p:cNvPr id="10" name="Checklist A"/>
          <p:cNvSpPr/>
          <p:nvPr/>
        </p:nvSpPr>
        <p:spPr>
          <a:xfrm>
            <a:off x="548640" y="960120"/>
            <a:ext cx="5440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Screenshot checklist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/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1. Login page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2. Dashboard with role menu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3. Create PR form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4. PR e-signature modal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5. PR record with PR number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6. BAC Resolution submenu/record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7. Approved BAC Resolution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8. Posting decision or BACSEC-004 posting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9. RFQ ready source and RFQ form</a:t>
            </a:r>
          </a:p>
        </p:txBody>
      </p:sp>
      <p:sp>
        <p:nvSpPr>
          <p:cNvPr id="11" name="Checklist B"/>
          <p:cNvSpPr/>
          <p:nvPr/>
        </p:nvSpPr>
        <p:spPr>
          <a:xfrm>
            <a:off x="6217920" y="960120"/>
            <a:ext cx="5440680" cy="534924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B720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Screenshot checklist continued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/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10. RFQ responses / quotation status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11. Abstract ready source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12. Abstract official form and signatories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13. Purchase Order source/form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14. Delivery or PO issued status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15. Inspection / Acceptance form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16. SVP Tracking workflow rail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17. Completed procurement / final status</a:t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/>
            </a:r>
          </a:p>
          <a:p>
            <a:pPr algn="l"/>
            <a:r>
              <a:rPr lang="en-US" sz="1450" dirty="0">
                <a:solidFill>
                  <a:srgbClr val="0F172A"/>
                </a:solidFill>
                <a:latin typeface="Aptos"/>
              </a:rPr>
              <a:t>Tip: capture one clean screenshot per major module.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264A"/>
          </a:solidFill>
          <a:ln w="12700">
            <a:solidFill>
              <a:srgbClr val="08264A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1097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ptos"/>
              </a:rPr>
              <a:t>Suggested Client Walkthrough</a:t>
            </a:r>
          </a:p>
        </p:txBody>
      </p:sp>
      <p:sp>
        <p:nvSpPr>
          <p:cNvPr id="4" name="Subtitle"/>
          <p:cNvSpPr/>
          <p:nvPr/>
        </p:nvSpPr>
        <p:spPr>
          <a:xfrm>
            <a:off x="429768" y="429768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050" dirty="0">
                <a:solidFill>
                  <a:srgbClr val="DBEAFE"/>
                </a:solidFill>
                <a:latin typeface="Aptos"/>
              </a:rPr>
              <a:t>Use this sequence when presenting the SVP process</a:t>
            </a:r>
          </a:p>
        </p:txBody>
      </p:sp>
      <p:sp>
        <p:nvSpPr>
          <p:cNvPr id="5" name="Footer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r"/>
            <a:r>
              <a:rPr lang="en-US" sz="850" dirty="0">
                <a:solidFill>
                  <a:srgbClr val="64748B"/>
                </a:solidFill>
                <a:latin typeface="Aptos"/>
              </a:rPr>
              <a:t>PaperTrail SVP Guide | 16</a:t>
            </a:r>
          </a:p>
        </p:txBody>
      </p:sp>
      <p:sp>
        <p:nvSpPr>
          <p:cNvPr id="10" name="Script"/>
          <p:cNvSpPr/>
          <p:nvPr/>
        </p:nvSpPr>
        <p:spPr>
          <a:xfrm>
            <a:off x="548640" y="960120"/>
            <a:ext cx="1106424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27000" tIns="91440" rIns="127000" bIns="91440">
            <a:normAutofit fontScale="85000" lnSpcReduction="20000"/>
          </a:bodyPr>
          <a:lstStyle/>
          <a:p>
            <a:pPr algn="l"/>
            <a:r>
              <a:rPr lang="en-US" sz="1650" dirty="0">
                <a:solidFill>
                  <a:srgbClr val="0F172A"/>
                </a:solidFill>
                <a:latin typeface="Aptos"/>
              </a:rPr>
              <a:t>Suggested client demo script</a:t>
            </a:r>
          </a:p>
          <a:p>
            <a:pPr algn="l"/>
            <a:r>
              <a:rPr lang="en-US" sz="1650" dirty="0">
                <a:solidFill>
                  <a:srgbClr val="0F172A"/>
                </a:solidFill>
                <a:latin typeface="Aptos"/>
              </a:rPr>
              <a:t/>
            </a:r>
          </a:p>
          <a:p>
            <a:pPr algn="l"/>
            <a:r>
              <a:rPr lang="en-US" sz="1650" dirty="0">
                <a:solidFill>
                  <a:srgbClr val="0F172A"/>
                </a:solidFill>
                <a:latin typeface="Aptos"/>
              </a:rPr>
              <a:t>1. Start with login to show controlled access by role.</a:t>
            </a:r>
          </a:p>
          <a:p>
            <a:pPr algn="l"/>
            <a:r>
              <a:rPr lang="en-US" sz="1650" dirty="0">
                <a:solidFill>
                  <a:srgbClr val="0F172A"/>
                </a:solidFill>
                <a:latin typeface="Aptos"/>
              </a:rPr>
              <a:t>2. Show the dashboard and SVP / Alternative Procurement menu.</a:t>
            </a:r>
          </a:p>
          <a:p>
            <a:pPr algn="l"/>
            <a:r>
              <a:rPr lang="en-US" sz="1650" dirty="0">
                <a:solidFill>
                  <a:srgbClr val="0F172A"/>
                </a:solidFill>
                <a:latin typeface="Aptos"/>
              </a:rPr>
              <a:t>3. Create or open a PR and explain that the PR starts the SVP chain.</a:t>
            </a:r>
          </a:p>
          <a:p>
            <a:pPr algn="l"/>
            <a:r>
              <a:rPr lang="en-US" sz="1650" dirty="0">
                <a:solidFill>
                  <a:srgbClr val="0F172A"/>
                </a:solidFill>
                <a:latin typeface="Aptos"/>
              </a:rPr>
              <a:t>4. Show e-signature to prove role-based approvals.</a:t>
            </a:r>
          </a:p>
          <a:p>
            <a:pPr algn="l"/>
            <a:r>
              <a:rPr lang="en-US" sz="1650" dirty="0">
                <a:solidFill>
                  <a:srgbClr val="0F172A"/>
                </a:solidFill>
                <a:latin typeface="Aptos"/>
              </a:rPr>
              <a:t>5. Move to BAC Resolution and explain BAC review/approval.</a:t>
            </a:r>
          </a:p>
          <a:p>
            <a:pPr algn="l"/>
            <a:r>
              <a:rPr lang="en-US" sz="1650" dirty="0">
                <a:solidFill>
                  <a:srgbClr val="0F172A"/>
                </a:solidFill>
                <a:latin typeface="Aptos"/>
              </a:rPr>
              <a:t>6. Explain posting path: some records skip, some route to BACSEC-004.</a:t>
            </a:r>
          </a:p>
          <a:p>
            <a:pPr algn="l"/>
            <a:r>
              <a:rPr lang="en-US" sz="1650" dirty="0">
                <a:solidFill>
                  <a:srgbClr val="0F172A"/>
                </a:solidFill>
                <a:latin typeface="Aptos"/>
              </a:rPr>
              <a:t>7. Show RFQ, then RFQ Responses / Quotations, then Abstract.</a:t>
            </a:r>
          </a:p>
          <a:p>
            <a:pPr algn="l"/>
            <a:r>
              <a:rPr lang="en-US" sz="1650" dirty="0">
                <a:solidFill>
                  <a:srgbClr val="0F172A"/>
                </a:solidFill>
                <a:latin typeface="Aptos"/>
              </a:rPr>
              <a:t>8. Show Purchase Order and Inspection / Acceptance.</a:t>
            </a:r>
          </a:p>
          <a:p>
            <a:pPr algn="l"/>
            <a:r>
              <a:rPr lang="en-US" sz="1650" dirty="0">
                <a:solidFill>
                  <a:srgbClr val="0F172A"/>
                </a:solidFill>
                <a:latin typeface="Aptos"/>
              </a:rPr>
              <a:t>9. End with SVP Tracking so the client sees the complete lifecycle in one 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Trail">
  <a:themeElements>
    <a:clrScheme name="PaperTrail">
      <a:dk1>
        <a:srgbClr val="0F172A"/>
      </a:dk1>
      <a:lt1>
        <a:srgbClr val="FFFFFF"/>
      </a:lt1>
      <a:dk2>
        <a:srgbClr val="08264A"/>
      </a:dk2>
      <a:lt2>
        <a:srgbClr val="F8FAFC"/>
      </a:lt2>
      <a:accent1>
        <a:srgbClr val="2563EB"/>
      </a:accent1>
      <a:accent2>
        <a:srgbClr val="F5B720"/>
      </a:accent2>
      <a:accent3>
        <a:srgbClr val="10B981"/>
      </a:accent3>
      <a:accent4>
        <a:srgbClr val="F97316"/>
      </a:accent4>
      <a:accent5>
        <a:srgbClr val="64748B"/>
      </a:accent5>
      <a:accent6>
        <a:srgbClr val="0EA5E9"/>
      </a:accent6>
      <a:hlink>
        <a:srgbClr val="2563EB"/>
      </a:hlink>
      <a:folHlink>
        <a:srgbClr val="8B5CF6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PaperTrail</Application>
  <PresentationFormat>On-screen Show (16:9)</PresentationFormat>
  <Slides>16</Slides>
  <Company>PaperTrail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PaperTrail SVP Process Guide</dc:title>
  <dc:creator>Codex</dc:creator>
  <cp:lastModifiedBy>Codex</cp:lastModifiedBy>
  <dcterms:created xsi:type="dcterms:W3CDTF">2026-09-29T19:10:31Z</dcterms:created>
  <dcterms:modified xsi:type="dcterms:W3CDTF">2026-09-29T19:10:31Z</dcterms:modified>
</cp:coreProperties>
</file>